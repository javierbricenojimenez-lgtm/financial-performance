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2af2c2b7c4f18" /><Relationship Type="http://schemas.openxmlformats.org/officeDocument/2006/relationships/extended-properties" Target="/docProps/app.xml" Id="Rf1a3d886dc394c0f" /><Relationship Type="http://schemas.openxmlformats.org/officeDocument/2006/relationships/officeDocument" Target="/ppt/presentation.xml" Id="Re98a584faa81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e9de95895b482e"/>
  </p:sldMasterIdLst>
  <p:notesMasterIdLst>
    <p:notesMasterId xmlns:r="http://schemas.openxmlformats.org/officeDocument/2006/relationships" r:id="Rc8769a9bddb24153"/>
  </p:notesMasterIdLst>
  <p:sldIdLst>
    <p:sldId xmlns:r="http://schemas.openxmlformats.org/officeDocument/2006/relationships" id="256" r:id="R88d8b9493b3b418f"/>
    <p:sldId xmlns:r="http://schemas.openxmlformats.org/officeDocument/2006/relationships" id="257" r:id="R219e2ec5dfd04560"/>
    <p:sldId xmlns:r="http://schemas.openxmlformats.org/officeDocument/2006/relationships" id="258" r:id="Rfe7182c8e06a42d5"/>
    <p:sldId xmlns:r="http://schemas.openxmlformats.org/officeDocument/2006/relationships" id="259" r:id="Re0b937c289b3494e"/>
    <p:sldId xmlns:r="http://schemas.openxmlformats.org/officeDocument/2006/relationships" id="260" r:id="R49ec72cfced9440c"/>
    <p:sldId xmlns:r="http://schemas.openxmlformats.org/officeDocument/2006/relationships" id="261" r:id="R88143a66b92040d7"/>
    <p:sldId xmlns:r="http://schemas.openxmlformats.org/officeDocument/2006/relationships" id="262" r:id="R1bbcf8853d0841ae"/>
    <p:sldId xmlns:r="http://schemas.openxmlformats.org/officeDocument/2006/relationships" id="263" r:id="Ra1d31ac2cf7d4c58"/>
    <p:sldId xmlns:r="http://schemas.openxmlformats.org/officeDocument/2006/relationships" id="264" r:id="R1b4a63fff7d346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a76dc407c84f72" /><Relationship Type="http://schemas.openxmlformats.org/officeDocument/2006/relationships/slideMaster" Target="/ppt/slideMasters/slideMaster1.xml" Id="R94e9de95895b482e" /><Relationship Type="http://schemas.openxmlformats.org/officeDocument/2006/relationships/notesMaster" Target="/ppt/notesMasters/notesMaster1.xml" Id="Rc8769a9bddb24153" /><Relationship Type="http://schemas.openxmlformats.org/officeDocument/2006/relationships/presProps" Target="/ppt/presProps.xml" Id="R7ae4199575864b84" /><Relationship Type="http://schemas.openxmlformats.org/officeDocument/2006/relationships/tableStyles" Target="/ppt/tableStyles.xml" Id="R6e378b0c47a14d9c" /><Relationship Type="http://schemas.openxmlformats.org/officeDocument/2006/relationships/slide" Target="/ppt/slides/slide1.xml" Id="R88d8b9493b3b418f" /><Relationship Type="http://schemas.openxmlformats.org/officeDocument/2006/relationships/slide" Target="/ppt/slides/slide2.xml" Id="R219e2ec5dfd04560" /><Relationship Type="http://schemas.openxmlformats.org/officeDocument/2006/relationships/slide" Target="/ppt/slides/slide3.xml" Id="Rfe7182c8e06a42d5" /><Relationship Type="http://schemas.openxmlformats.org/officeDocument/2006/relationships/slide" Target="/ppt/slides/slide4.xml" Id="Re0b937c289b3494e" /><Relationship Type="http://schemas.openxmlformats.org/officeDocument/2006/relationships/slide" Target="/ppt/slides/slide5.xml" Id="R49ec72cfced9440c" /><Relationship Type="http://schemas.openxmlformats.org/officeDocument/2006/relationships/slide" Target="/ppt/slides/slide6.xml" Id="R88143a66b92040d7" /><Relationship Type="http://schemas.openxmlformats.org/officeDocument/2006/relationships/slide" Target="/ppt/slides/slide7.xml" Id="R1bbcf8853d0841ae" /><Relationship Type="http://schemas.openxmlformats.org/officeDocument/2006/relationships/slide" Target="/ppt/slides/slide8.xml" Id="Ra1d31ac2cf7d4c58" /><Relationship Type="http://schemas.openxmlformats.org/officeDocument/2006/relationships/slide" Target="/ppt/slides/slide9.xml" Id="R1b4a63fff7d3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e9f5064ac9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103fbf782e4aa7" /><Relationship Type="http://schemas.openxmlformats.org/officeDocument/2006/relationships/notesMaster" Target="/ppt/notesMasters/notesMaster1.xml" Id="R97020f2344b5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883f1a8cc4e98" /><Relationship Type="http://schemas.openxmlformats.org/officeDocument/2006/relationships/notesMaster" Target="/ppt/notesMasters/notesMaster1.xml" Id="Rdf1a8b894c51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afa4474e80403a" /><Relationship Type="http://schemas.openxmlformats.org/officeDocument/2006/relationships/notesMaster" Target="/ppt/notesMasters/notesMaster1.xml" Id="Re51ac469dfe64b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92297d14324767" /><Relationship Type="http://schemas.openxmlformats.org/officeDocument/2006/relationships/notesMaster" Target="/ppt/notesMasters/notesMaster1.xml" Id="R75732d7541b94b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0bcb2f087a4a4e" /><Relationship Type="http://schemas.openxmlformats.org/officeDocument/2006/relationships/notesMaster" Target="/ppt/notesMasters/notesMaster1.xml" Id="Rf5ae30068cbd4e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f8dd3e2f4499e" /><Relationship Type="http://schemas.openxmlformats.org/officeDocument/2006/relationships/notesMaster" Target="/ppt/notesMasters/notesMaster1.xml" Id="R5a82688ef6cd49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cb8ee81a50495f" /><Relationship Type="http://schemas.openxmlformats.org/officeDocument/2006/relationships/notesMaster" Target="/ppt/notesMasters/notesMaster1.xml" Id="R2537231749c544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37daa31d084222" /><Relationship Type="http://schemas.openxmlformats.org/officeDocument/2006/relationships/notesMaster" Target="/ppt/notesMasters/notesMaster1.xml" Id="R6361e998cb43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2bb4e408644776" /><Relationship Type="http://schemas.openxmlformats.org/officeDocument/2006/relationships/notesMaster" Target="/ppt/notesMasters/notesMaster1.xml" Id="Ra4324fcf5d93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outputs/resultados_finales.json, consultas SQL y base SQLite sintética del proyecto. Método y límites: outputs/ANEXO_METODOLOGICO.md. No hay evidencia causal comercial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y consultas del proyecto Financial Performance Intelligence. Caso de portafolio con datos sintéticos documentados.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d9c7708254f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90b9549ff44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d4b11d9194e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ae9ae6e1b40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66ccd807144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b2f11284b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2E519F-496B-4ED0-97D4-6A8B3A29A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74330B-E62C-45D6-8A6B-4B7F60FD95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0A81E5-C5C5-49A9-A84C-5EDB2780E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E74F85-C310-4AE0-8F5F-89E3F5C5C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28C6E0-84E2-44B5-98F7-FEDEFA74EB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CCC656-C2A1-408E-AF03-97990AC864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97AFD5-1EF3-430C-BBF1-78EC8E829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1FB243-FB4D-422D-A519-BD403C2DAD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801714-8292-4861-B257-CE95796ED5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CDF886-3B06-4F0A-9F98-5545AB5A49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9d328496be4fe5" /><Relationship Type="http://schemas.openxmlformats.org/officeDocument/2006/relationships/slideLayout" Target="/ppt/slideLayouts/slideLayout1.xml" Id="Rd42bd3f169db487d" /><Relationship Type="http://schemas.openxmlformats.org/officeDocument/2006/relationships/slideLayout" Target="/ppt/slideLayouts/slideLayout2.xml" Id="Re1c7ed8c5fe34446" /><Relationship Type="http://schemas.openxmlformats.org/officeDocument/2006/relationships/slideLayout" Target="/ppt/slideLayouts/slideLayout3.xml" Id="R6d4e45f951864d83" /><Relationship Type="http://schemas.openxmlformats.org/officeDocument/2006/relationships/slideLayout" Target="/ppt/slideLayouts/slideLayout4.xml" Id="R3eb5ef773e6e4b12" /><Relationship Type="http://schemas.openxmlformats.org/officeDocument/2006/relationships/slideLayout" Target="/ppt/slideLayouts/slideLayout5.xml" Id="R9111df5416d6498d" /><Relationship Type="http://schemas.openxmlformats.org/officeDocument/2006/relationships/slideLayout" Target="/ppt/slideLayouts/slideLayout6.xml" Id="Rce8035d6fbc540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2bd3f169db487d"/>
    <p:sldLayoutId xmlns:r="http://schemas.openxmlformats.org/officeDocument/2006/relationships" id="2147483650" r:id="Re1c7ed8c5fe34446"/>
    <p:sldLayoutId xmlns:r="http://schemas.openxmlformats.org/officeDocument/2006/relationships" id="2147483651" r:id="R6d4e45f951864d83"/>
    <p:sldLayoutId xmlns:r="http://schemas.openxmlformats.org/officeDocument/2006/relationships" id="2147483652" r:id="R3eb5ef773e6e4b12"/>
    <p:sldLayoutId xmlns:r="http://schemas.openxmlformats.org/officeDocument/2006/relationships" id="2147483653" r:id="R9111df5416d6498d"/>
    <p:sldLayoutId xmlns:r="http://schemas.openxmlformats.org/officeDocument/2006/relationships" id="2147483654" r:id="Rce8035d6fbc540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4ed077a8d4a19" /><Relationship Type="http://schemas.openxmlformats.org/officeDocument/2006/relationships/notesSlide" Target="/ppt/notesSlides/notesSlide1.xml" Id="Rc873b3d6f68742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ab1da31e74a9a" /><Relationship Type="http://schemas.openxmlformats.org/officeDocument/2006/relationships/notesSlide" Target="/ppt/notesSlides/notesSlide2.xml" Id="Rdf68c454dcee4c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b377e172c4659" /><Relationship Type="http://schemas.openxmlformats.org/officeDocument/2006/relationships/notesSlide" Target="/ppt/notesSlides/notesSlide3.xml" Id="Refd9b4696b11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3f22dec9c4abf" /><Relationship Type="http://schemas.openxmlformats.org/officeDocument/2006/relationships/notesSlide" Target="/ppt/notesSlides/notesSlide4.xml" Id="R23fd29e5464642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1e00cb10d46e0" /><Relationship Type="http://schemas.openxmlformats.org/officeDocument/2006/relationships/notesSlide" Target="/ppt/notesSlides/notesSlide5.xml" Id="R7d14ed5af65b4f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0c9787eae43f5" /><Relationship Type="http://schemas.openxmlformats.org/officeDocument/2006/relationships/notesSlide" Target="/ppt/notesSlides/notesSlide6.xml" Id="R47cf8a6e8d7945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ecc0f11de4f49" /><Relationship Type="http://schemas.openxmlformats.org/officeDocument/2006/relationships/notesSlide" Target="/ppt/notesSlides/notesSlide7.xml" Id="R7d920e28118c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8e59a747a4846" /><Relationship Type="http://schemas.openxmlformats.org/officeDocument/2006/relationships/notesSlide" Target="/ppt/notesSlides/notesSlide8.xml" Id="R4c090bd61b15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d58ded9cb4394" /><Relationship Type="http://schemas.openxmlformats.org/officeDocument/2006/relationships/notesSlide" Target="/ppt/notesSlides/notesSlide9.xml" Id="R51bc601a95eb4d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87D4-E18A-449E-ABB2-F47DC87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Ventas +8 %, utilidad operacional −15 %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68994-8B46-4D7D-9BB3-1A5B51B5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Datos sintéticos documentados · CLP sin IVA · Agosto y septiembre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E0DEF-9820-40B5-B324-888BBD94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7E83"/>
                </a:solidFill>
              </a:defRPr>
            </a:defPPr>
            <a:lvl1pPr>
              <a:defRPr sz="3300" b="1">
                <a:solidFill>
                  <a:srgbClr val="087E83"/>
                </a:solidFill>
              </a:defRPr>
            </a:lvl1pPr>
            <a:lvl2pPr>
              <a:defRPr sz="3300" b="1">
                <a:solidFill>
                  <a:srgbClr val="087E83"/>
                </a:solidFill>
              </a:defRPr>
            </a:lvl2pPr>
            <a:lvl3pPr>
              <a:defRPr sz="3300" b="1">
                <a:solidFill>
                  <a:srgbClr val="087E83"/>
                </a:solidFill>
              </a:defRPr>
            </a:lvl3pPr>
            <a:lvl4pPr>
              <a:defRPr sz="3300" b="1">
                <a:solidFill>
                  <a:srgbClr val="087E83"/>
                </a:solidFill>
              </a:defRPr>
            </a:lvl4pPr>
            <a:lvl5pPr>
              <a:defRPr sz="3300" b="1">
                <a:solidFill>
                  <a:srgbClr val="087E83"/>
                </a:solidFill>
              </a:defRPr>
            </a:lvl5pPr>
            <a:lvl6pPr>
              <a:defRPr sz="3300" b="1">
                <a:solidFill>
                  <a:srgbClr val="087E83"/>
                </a:solidFill>
              </a:defRPr>
            </a:lvl6pPr>
            <a:lvl7pPr>
              <a:defRPr sz="3300" b="1">
                <a:solidFill>
                  <a:srgbClr val="087E83"/>
                </a:solidFill>
              </a:defRPr>
            </a:lvl7pPr>
            <a:lvl8pPr>
              <a:defRPr sz="3300" b="1">
                <a:solidFill>
                  <a:srgbClr val="087E83"/>
                </a:solidFill>
              </a:defRPr>
            </a:lvl8pPr>
            <a:lvl9pPr>
              <a:defRPr sz="3300" b="1">
                <a:solidFill>
                  <a:srgbClr val="087E8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87E83"/>
                </a:solidFill>
              </a:defRPr>
            </a:pPr>
            <a:r>
              <a:rPr sz="3300" b="1">
                <a:solidFill>
                  <a:srgbClr val="087E83"/>
                </a:solidFill>
              </a:rPr>
              <a:t>Financial Performance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EE06-766E-4773-A981-09572F32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346"/>
                </a:solidFill>
              </a:defRPr>
            </a:defPPr>
            <a:lvl1pPr>
              <a:defRPr sz="2250" b="0">
                <a:solidFill>
                  <a:srgbClr val="203346"/>
                </a:solidFill>
              </a:defRPr>
            </a:lvl1pPr>
            <a:lvl2pPr>
              <a:defRPr sz="2250" b="0">
                <a:solidFill>
                  <a:srgbClr val="203346"/>
                </a:solidFill>
              </a:defRPr>
            </a:lvl2pPr>
            <a:lvl3pPr>
              <a:defRPr sz="2250" b="0">
                <a:solidFill>
                  <a:srgbClr val="203346"/>
                </a:solidFill>
              </a:defRPr>
            </a:lvl3pPr>
            <a:lvl4pPr>
              <a:defRPr sz="2250" b="0">
                <a:solidFill>
                  <a:srgbClr val="203346"/>
                </a:solidFill>
              </a:defRPr>
            </a:lvl4pPr>
            <a:lvl5pPr>
              <a:defRPr sz="2250" b="0">
                <a:solidFill>
                  <a:srgbClr val="203346"/>
                </a:solidFill>
              </a:defRPr>
            </a:lvl5pPr>
            <a:lvl6pPr>
              <a:defRPr sz="2250" b="0">
                <a:solidFill>
                  <a:srgbClr val="203346"/>
                </a:solidFill>
              </a:defRPr>
            </a:lvl6pPr>
            <a:lvl7pPr>
              <a:defRPr sz="2250" b="0">
                <a:solidFill>
                  <a:srgbClr val="203346"/>
                </a:solidFill>
              </a:defRPr>
            </a:lvl7pPr>
            <a:lvl8pPr>
              <a:defRPr sz="2250" b="0">
                <a:solidFill>
                  <a:srgbClr val="203346"/>
                </a:solidFill>
              </a:defRPr>
            </a:lvl8pPr>
            <a:lvl9pPr>
              <a:defRPr sz="225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346"/>
                </a:solidFill>
              </a:defRPr>
            </a:pPr>
            <a:r>
              <a:rPr sz="2250" b="0">
                <a:solidFill>
                  <a:srgbClr val="203346"/>
                </a:solidFill>
              </a:rPr>
              <a:t>Problema: explicar por qué la empresa vende más, pero obtiene menos utilidad.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0A25F-EB66-4796-8FF1-9A8431E71019}"/>
              </a:ext>
            </a:extLst>
          </p:cNvPr>
          <p:cNvGraphicFramePr/>
          <p:nvPr/>
        </p:nvGraphicFramePr>
        <p:xfrm>
          <a:off xmlns:a="http://schemas.openxmlformats.org/drawingml/2006/main" x="609600" y="390525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867025"/>
                <a:gridCol w="2867025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Indicador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Agosto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Septiembre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Ingresos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$100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$108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Margen bruto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$40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$38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Utilidad operacional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$20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$17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487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05C81-AB5E-41C7-AC82-8F025C62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La caída de utilidad concilia exactamente en $3 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882F6-5CCD-4427-8A52-CE1F617A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8BDFB-571B-4FD7-BCCA-0167B217160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87655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Factor contable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Efecto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Mayores ingresos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+$8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Mayor costo de ventas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−$10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Mayores gastos operacionales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−$1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Cambio de utilidad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−$3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CCC51-441D-4271-A022-BB4B7CA8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346"/>
                </a:solidFill>
              </a:defRPr>
            </a:defPPr>
            <a:lvl1pPr>
              <a:defRPr sz="1950" b="0">
                <a:solidFill>
                  <a:srgbClr val="203346"/>
                </a:solidFill>
              </a:defRPr>
            </a:lvl1pPr>
            <a:lvl2pPr>
              <a:defRPr sz="1950" b="0">
                <a:solidFill>
                  <a:srgbClr val="203346"/>
                </a:solidFill>
              </a:defRPr>
            </a:lvl2pPr>
            <a:lvl3pPr>
              <a:defRPr sz="1950" b="0">
                <a:solidFill>
                  <a:srgbClr val="203346"/>
                </a:solidFill>
              </a:defRPr>
            </a:lvl3pPr>
            <a:lvl4pPr>
              <a:defRPr sz="1950" b="0">
                <a:solidFill>
                  <a:srgbClr val="203346"/>
                </a:solidFill>
              </a:defRPr>
            </a:lvl4pPr>
            <a:lvl5pPr>
              <a:defRPr sz="1950" b="0">
                <a:solidFill>
                  <a:srgbClr val="203346"/>
                </a:solidFill>
              </a:defRPr>
            </a:lvl5pPr>
            <a:lvl6pPr>
              <a:defRPr sz="1950" b="0">
                <a:solidFill>
                  <a:srgbClr val="203346"/>
                </a:solidFill>
              </a:defRPr>
            </a:lvl6pPr>
            <a:lvl7pPr>
              <a:defRPr sz="1950" b="0">
                <a:solidFill>
                  <a:srgbClr val="203346"/>
                </a:solidFill>
              </a:defRPr>
            </a:lvl7pPr>
            <a:lvl8pPr>
              <a:defRPr sz="1950" b="0">
                <a:solidFill>
                  <a:srgbClr val="203346"/>
                </a:solidFill>
              </a:defRPr>
            </a:lvl8pPr>
            <a:lvl9pPr>
              <a:defRPr sz="195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346"/>
                </a:solidFill>
              </a:defRPr>
            </a:pPr>
            <a:r>
              <a:rPr sz="1950" b="0">
                <a:solidFill>
                  <a:srgbClr val="203346"/>
                </a:solidFill>
              </a:rPr>
              <a:t>El puente por volumen, mezcla, precio, descuento y costo está en el anexo. Sus efectos unitarios incluyen calibración sintética.</a:t>
            </a:r>
          </a:p>
        </p:txBody>
      </p:sp>
    </p:spTree>
    <p:extLst>
      <p:ext uri="{BB962C8B-B14F-4D97-AF65-F5344CB8AC3E}">
        <p14:creationId xmlns:p14="http://schemas.microsoft.com/office/powerpoint/2010/main" val="1062028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E2BAE-ACE4-4BAB-B61A-EFC79AF4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Organización concentra la mayor pérdida de margen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C25BC-CD90-44F1-AF58-0BAF096B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EA4BC-E297-47CB-8504-DC907B844551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87655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Categoría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Cambio de margen M$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Organización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-4,49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Escritura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-2,79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Papel y cuadernos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-1,84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Insumos de impresión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1,81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Tecnología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5,32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300B7-3D41-4A42-877B-C5CE2E5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346"/>
                </a:solidFill>
              </a:defRPr>
            </a:defPPr>
            <a:lvl1pPr>
              <a:defRPr sz="1950" b="0">
                <a:solidFill>
                  <a:srgbClr val="203346"/>
                </a:solidFill>
              </a:defRPr>
            </a:lvl1pPr>
            <a:lvl2pPr>
              <a:defRPr sz="1950" b="0">
                <a:solidFill>
                  <a:srgbClr val="203346"/>
                </a:solidFill>
              </a:defRPr>
            </a:lvl2pPr>
            <a:lvl3pPr>
              <a:defRPr sz="1950" b="0">
                <a:solidFill>
                  <a:srgbClr val="203346"/>
                </a:solidFill>
              </a:defRPr>
            </a:lvl3pPr>
            <a:lvl4pPr>
              <a:defRPr sz="1950" b="0">
                <a:solidFill>
                  <a:srgbClr val="203346"/>
                </a:solidFill>
              </a:defRPr>
            </a:lvl4pPr>
            <a:lvl5pPr>
              <a:defRPr sz="1950" b="0">
                <a:solidFill>
                  <a:srgbClr val="203346"/>
                </a:solidFill>
              </a:defRPr>
            </a:lvl5pPr>
            <a:lvl6pPr>
              <a:defRPr sz="1950" b="0">
                <a:solidFill>
                  <a:srgbClr val="203346"/>
                </a:solidFill>
              </a:defRPr>
            </a:lvl6pPr>
            <a:lvl7pPr>
              <a:defRPr sz="1950" b="0">
                <a:solidFill>
                  <a:srgbClr val="203346"/>
                </a:solidFill>
              </a:defRPr>
            </a:lvl7pPr>
            <a:lvl8pPr>
              <a:defRPr sz="1950" b="0">
                <a:solidFill>
                  <a:srgbClr val="203346"/>
                </a:solidFill>
              </a:defRPr>
            </a:lvl8pPr>
            <a:lvl9pPr>
              <a:defRPr sz="195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346"/>
                </a:solidFill>
              </a:defRPr>
            </a:pPr>
            <a:r>
              <a:rPr sz="1950" b="0">
                <a:solidFill>
                  <a:srgbClr val="203346"/>
                </a:solidFill>
              </a:rPr>
              <a:t>Tecnología e Impresión compensan parte de las pérdidas. Los productos prioritarios cubren el 81,3 % de los aportes negativos.</a:t>
            </a:r>
          </a:p>
        </p:txBody>
      </p:sp>
    </p:spTree>
    <p:extLst>
      <p:ext uri="{BB962C8B-B14F-4D97-AF65-F5344CB8AC3E}">
        <p14:creationId xmlns:p14="http://schemas.microsoft.com/office/powerpoint/2010/main" val="302681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1E6F-CE39-41AE-9F9D-2838B2F9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Cajas archivo pack combina menor venta y devoluciones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136D1-1B36-4D66-8486-6B8464D9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B736-5264-4930-B6E3-816E649CBC4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Indicador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Agosto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Septiembre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Packs vendidos antes de devoluciones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487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335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Packs devueltos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Packs netos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487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Margen bruto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$2.152.697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$977.809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1E87D-827C-47DE-A866-49AC572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346"/>
                </a:solidFill>
              </a:defRPr>
            </a:defPPr>
            <a:lvl1pPr>
              <a:defRPr sz="1950" b="0">
                <a:solidFill>
                  <a:srgbClr val="203346"/>
                </a:solidFill>
              </a:defRPr>
            </a:lvl1pPr>
            <a:lvl2pPr>
              <a:defRPr sz="1950" b="0">
                <a:solidFill>
                  <a:srgbClr val="203346"/>
                </a:solidFill>
              </a:defRPr>
            </a:lvl2pPr>
            <a:lvl3pPr>
              <a:defRPr sz="1950" b="0">
                <a:solidFill>
                  <a:srgbClr val="203346"/>
                </a:solidFill>
              </a:defRPr>
            </a:lvl3pPr>
            <a:lvl4pPr>
              <a:defRPr sz="1950" b="0">
                <a:solidFill>
                  <a:srgbClr val="203346"/>
                </a:solidFill>
              </a:defRPr>
            </a:lvl4pPr>
            <a:lvl5pPr>
              <a:defRPr sz="1950" b="0">
                <a:solidFill>
                  <a:srgbClr val="203346"/>
                </a:solidFill>
              </a:defRPr>
            </a:lvl5pPr>
            <a:lvl6pPr>
              <a:defRPr sz="1950" b="0">
                <a:solidFill>
                  <a:srgbClr val="203346"/>
                </a:solidFill>
              </a:defRPr>
            </a:lvl6pPr>
            <a:lvl7pPr>
              <a:defRPr sz="1950" b="0">
                <a:solidFill>
                  <a:srgbClr val="203346"/>
                </a:solidFill>
              </a:defRPr>
            </a:lvl7pPr>
            <a:lvl8pPr>
              <a:defRPr sz="1950" b="0">
                <a:solidFill>
                  <a:srgbClr val="203346"/>
                </a:solidFill>
              </a:defRPr>
            </a:lvl8pPr>
            <a:lvl9pPr>
              <a:defRPr sz="195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346"/>
                </a:solidFill>
              </a:defRPr>
            </a:pPr>
            <a:r>
              <a:rPr sz="1950" b="0">
                <a:solidFill>
                  <a:srgbClr val="203346"/>
                </a:solidFill>
              </a:rPr>
              <a:t>Los 29 clientes con menor compra neta siguieron comprando otros productos. No hay evidencia de abandono total ni del motivo de no compra.</a:t>
            </a:r>
          </a:p>
        </p:txBody>
      </p:sp>
    </p:spTree>
    <p:extLst>
      <p:ext uri="{BB962C8B-B14F-4D97-AF65-F5344CB8AC3E}">
        <p14:creationId xmlns:p14="http://schemas.microsoft.com/office/powerpoint/2010/main" val="2025862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C47EC-09D7-42CC-8B53-D5E61BB5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Más packs que el plan, menos margen que el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74992-63AE-4458-9F72-FA1C499D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8A883-54C8-4A8E-A56B-6EBD2C3F8B7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Cajas archivo pack, septiembre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Real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Packs netos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Ingresos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3.533.334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1.868.352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Margen bruto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1.625.334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977.809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91985-9717-4FBB-BEDA-4A90B999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346"/>
                </a:solidFill>
              </a:defRPr>
            </a:defPPr>
            <a:lvl1pPr>
              <a:defRPr sz="2025" b="0">
                <a:solidFill>
                  <a:srgbClr val="203346"/>
                </a:solidFill>
              </a:defRPr>
            </a:lvl1pPr>
            <a:lvl2pPr>
              <a:defRPr sz="2025" b="0">
                <a:solidFill>
                  <a:srgbClr val="203346"/>
                </a:solidFill>
              </a:defRPr>
            </a:lvl2pPr>
            <a:lvl3pPr>
              <a:defRPr sz="2025" b="0">
                <a:solidFill>
                  <a:srgbClr val="203346"/>
                </a:solidFill>
              </a:defRPr>
            </a:lvl3pPr>
            <a:lvl4pPr>
              <a:defRPr sz="2025" b="0">
                <a:solidFill>
                  <a:srgbClr val="203346"/>
                </a:solidFill>
              </a:defRPr>
            </a:lvl4pPr>
            <a:lvl5pPr>
              <a:defRPr sz="2025" b="0">
                <a:solidFill>
                  <a:srgbClr val="203346"/>
                </a:solidFill>
              </a:defRPr>
            </a:lvl5pPr>
            <a:lvl6pPr>
              <a:defRPr sz="2025" b="0">
                <a:solidFill>
                  <a:srgbClr val="203346"/>
                </a:solidFill>
              </a:defRPr>
            </a:lvl6pPr>
            <a:lvl7pPr>
              <a:defRPr sz="2025" b="0">
                <a:solidFill>
                  <a:srgbClr val="203346"/>
                </a:solidFill>
              </a:defRPr>
            </a:lvl7pPr>
            <a:lvl8pPr>
              <a:defRPr sz="2025" b="0">
                <a:solidFill>
                  <a:srgbClr val="203346"/>
                </a:solidFill>
              </a:defRPr>
            </a:lvl8pPr>
            <a:lvl9pPr>
              <a:defRPr sz="2025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346"/>
                </a:solidFill>
              </a:defRPr>
            </a:pPr>
            <a:r>
              <a:rPr sz="2025" b="0">
                <a:solidFill>
                  <a:srgbClr val="203346"/>
                </a:solidFill>
              </a:rPr>
              <a:t>La caída frente a agosto y el incumplimiento del plan son comparaciones distintas. El presupuesto existe por producto y canal, no por cliente.</a:t>
            </a:r>
          </a:p>
        </p:txBody>
      </p:sp>
    </p:spTree>
    <p:extLst>
      <p:ext uri="{BB962C8B-B14F-4D97-AF65-F5344CB8AC3E}">
        <p14:creationId xmlns:p14="http://schemas.microsoft.com/office/powerpoint/2010/main" val="1752768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1DD1C-B166-41CD-A7F9-454D6723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Septiembre queda $5,73 M bajo la utilidad presupuestada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9D1DE-84EE-4358-8A50-559BDBE6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C7746-142C-4B51-8B57-E99D230637FC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905000"/>
                <a:gridCol w="1905000"/>
                <a:gridCol w="192405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Empresa, septiembre M$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Real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Desviación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ingresos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costos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63,07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6,93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gastos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20,2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0,8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utilidad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22,73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-5,73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DB4CE-1DCA-4C7E-AF2C-96DC6D7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346"/>
                </a:solidFill>
              </a:defRPr>
            </a:defPPr>
            <a:lvl1pPr>
              <a:defRPr sz="1950" b="0">
                <a:solidFill>
                  <a:srgbClr val="203346"/>
                </a:solidFill>
              </a:defRPr>
            </a:lvl1pPr>
            <a:lvl2pPr>
              <a:defRPr sz="1950" b="0">
                <a:solidFill>
                  <a:srgbClr val="203346"/>
                </a:solidFill>
              </a:defRPr>
            </a:lvl2pPr>
            <a:lvl3pPr>
              <a:defRPr sz="1950" b="0">
                <a:solidFill>
                  <a:srgbClr val="203346"/>
                </a:solidFill>
              </a:defRPr>
            </a:lvl3pPr>
            <a:lvl4pPr>
              <a:defRPr sz="1950" b="0">
                <a:solidFill>
                  <a:srgbClr val="203346"/>
                </a:solidFill>
              </a:defRPr>
            </a:lvl4pPr>
            <a:lvl5pPr>
              <a:defRPr sz="1950" b="0">
                <a:solidFill>
                  <a:srgbClr val="203346"/>
                </a:solidFill>
              </a:defRPr>
            </a:lvl5pPr>
            <a:lvl6pPr>
              <a:defRPr sz="1950" b="0">
                <a:solidFill>
                  <a:srgbClr val="203346"/>
                </a:solidFill>
              </a:defRPr>
            </a:lvl6pPr>
            <a:lvl7pPr>
              <a:defRPr sz="1950" b="0">
                <a:solidFill>
                  <a:srgbClr val="203346"/>
                </a:solidFill>
              </a:defRPr>
            </a:lvl7pPr>
            <a:lvl8pPr>
              <a:defRPr sz="1950" b="0">
                <a:solidFill>
                  <a:srgbClr val="203346"/>
                </a:solidFill>
              </a:defRPr>
            </a:lvl8pPr>
            <a:lvl9pPr>
              <a:defRPr sz="195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346"/>
                </a:solidFill>
              </a:defRPr>
            </a:pPr>
            <a:r>
              <a:rPr sz="1950" b="0">
                <a:solidFill>
                  <a:srgbClr val="203346"/>
                </a:solidFill>
              </a:rPr>
              <a:t>Logística aumenta $873.300 y Marketing $561.407 frente a agosto. Otras cuentas compensan parte del aumento y los gastos totales suben $1 M.</a:t>
            </a:r>
          </a:p>
        </p:txBody>
      </p:sp>
    </p:spTree>
    <p:extLst>
      <p:ext uri="{BB962C8B-B14F-4D97-AF65-F5344CB8AC3E}">
        <p14:creationId xmlns:p14="http://schemas.microsoft.com/office/powerpoint/2010/main" val="756418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C36CF-AA00-47C5-A892-1F8F62B6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Escenarios: mejora neta de $0,63 M a $1,21 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CE8AF-1D02-4D52-B4B9-76A9D1A1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8C22B-5E9B-4FE5-99E2-1D47536CDA9E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Un mes equivalente a septiembre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Prudente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132C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Recuperar unidades perdidas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5 %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10 %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Reducir descuento directo sobre lista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0,5 pp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 pp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Ahorrar incremento Logística / Marketing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5 %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10 %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Costo supuesto de ejecución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$100.000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$250.000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Mejora neta estimada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$628.767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6"/>
                          </a:solidFill>
                        </a:rPr>
                        <a:t>$1.207.535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FBC4C-AC7D-40E0-991A-76ACC9B4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346"/>
                </a:solidFill>
              </a:defRPr>
            </a:defPPr>
            <a:lvl1pPr>
              <a:defRPr sz="1875" b="0">
                <a:solidFill>
                  <a:srgbClr val="203346"/>
                </a:solidFill>
              </a:defRPr>
            </a:lvl1pPr>
            <a:lvl2pPr>
              <a:defRPr sz="1875" b="0">
                <a:solidFill>
                  <a:srgbClr val="203346"/>
                </a:solidFill>
              </a:defRPr>
            </a:lvl2pPr>
            <a:lvl3pPr>
              <a:defRPr sz="1875" b="0">
                <a:solidFill>
                  <a:srgbClr val="203346"/>
                </a:solidFill>
              </a:defRPr>
            </a:lvl3pPr>
            <a:lvl4pPr>
              <a:defRPr sz="1875" b="0">
                <a:solidFill>
                  <a:srgbClr val="203346"/>
                </a:solidFill>
              </a:defRPr>
            </a:lvl4pPr>
            <a:lvl5pPr>
              <a:defRPr sz="1875" b="0">
                <a:solidFill>
                  <a:srgbClr val="203346"/>
                </a:solidFill>
              </a:defRPr>
            </a:lvl5pPr>
            <a:lvl6pPr>
              <a:defRPr sz="1875" b="0">
                <a:solidFill>
                  <a:srgbClr val="203346"/>
                </a:solidFill>
              </a:defRPr>
            </a:lvl6pPr>
            <a:lvl7pPr>
              <a:defRPr sz="1875" b="0">
                <a:solidFill>
                  <a:srgbClr val="203346"/>
                </a:solidFill>
              </a:defRPr>
            </a:lvl7pPr>
            <a:lvl8pPr>
              <a:defRPr sz="1875" b="0">
                <a:solidFill>
                  <a:srgbClr val="203346"/>
                </a:solidFill>
              </a:defRPr>
            </a:lvl8pPr>
            <a:lvl9pPr>
              <a:defRPr sz="1875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346"/>
                </a:solidFill>
              </a:defRPr>
            </a:pPr>
            <a:r>
              <a:rPr sz="1875" b="0">
                <a:solidFill>
                  <a:srgbClr val="203346"/>
                </a:solidFill>
              </a:rPr>
              <a:t>Supuestos ilustrativos, con demanda restante constante. Sin doble conteo entre ventas existentes y recuperadas. No son resultados obtenidos.</a:t>
            </a:r>
          </a:p>
        </p:txBody>
      </p:sp>
    </p:spTree>
    <p:extLst>
      <p:ext uri="{BB962C8B-B14F-4D97-AF65-F5344CB8AC3E}">
        <p14:creationId xmlns:p14="http://schemas.microsoft.com/office/powerpoint/2010/main" val="587571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F13B1-4224-4AF7-A328-5B3CB26F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2C43"/>
                </a:solidFill>
              </a:defRPr>
            </a:defPPr>
            <a:lvl1pPr>
              <a:defRPr sz="2850" b="1">
                <a:solidFill>
                  <a:srgbClr val="132C43"/>
                </a:solidFill>
              </a:defRPr>
            </a:lvl1pPr>
            <a:lvl2pPr>
              <a:defRPr sz="2850" b="1">
                <a:solidFill>
                  <a:srgbClr val="132C43"/>
                </a:solidFill>
              </a:defRPr>
            </a:lvl2pPr>
            <a:lvl3pPr>
              <a:defRPr sz="2850" b="1">
                <a:solidFill>
                  <a:srgbClr val="132C43"/>
                </a:solidFill>
              </a:defRPr>
            </a:lvl3pPr>
            <a:lvl4pPr>
              <a:defRPr sz="2850" b="1">
                <a:solidFill>
                  <a:srgbClr val="132C43"/>
                </a:solidFill>
              </a:defRPr>
            </a:lvl4pPr>
            <a:lvl5pPr>
              <a:defRPr sz="2850" b="1">
                <a:solidFill>
                  <a:srgbClr val="132C43"/>
                </a:solidFill>
              </a:defRPr>
            </a:lvl5pPr>
            <a:lvl6pPr>
              <a:defRPr sz="2850" b="1">
                <a:solidFill>
                  <a:srgbClr val="132C43"/>
                </a:solidFill>
              </a:defRPr>
            </a:lvl6pPr>
            <a:lvl7pPr>
              <a:defRPr sz="2850" b="1">
                <a:solidFill>
                  <a:srgbClr val="132C43"/>
                </a:solidFill>
              </a:defRPr>
            </a:lvl7pPr>
            <a:lvl8pPr>
              <a:defRPr sz="2850" b="1">
                <a:solidFill>
                  <a:srgbClr val="132C43"/>
                </a:solidFill>
              </a:defRPr>
            </a:lvl8pPr>
            <a:lvl9pPr>
              <a:defRPr sz="2850" b="1">
                <a:solidFill>
                  <a:srgbClr val="132C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</a:defRPr>
            </a:pPr>
            <a:r>
              <a:rPr sz="2850" b="1">
                <a:solidFill>
                  <a:srgbClr val="132C43"/>
                </a:solidFill>
              </a:rPr>
              <a:t>Decisiones propuestas y evidencia pendiente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73878-6324-431D-9229-6121DBD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</a:defRPr>
            </a:defPPr>
            <a:lvl1pPr>
              <a:defRPr sz="1200" b="0">
                <a:solidFill>
                  <a:srgbClr val="536779"/>
                </a:solidFill>
              </a:defRPr>
            </a:lvl1pPr>
            <a:lvl2pPr>
              <a:defRPr sz="1200" b="0">
                <a:solidFill>
                  <a:srgbClr val="536779"/>
                </a:solidFill>
              </a:defRPr>
            </a:lvl2pPr>
            <a:lvl3pPr>
              <a:defRPr sz="1200" b="0">
                <a:solidFill>
                  <a:srgbClr val="536779"/>
                </a:solidFill>
              </a:defRPr>
            </a:lvl3pPr>
            <a:lvl4pPr>
              <a:defRPr sz="1200" b="0">
                <a:solidFill>
                  <a:srgbClr val="536779"/>
                </a:solidFill>
              </a:defRPr>
            </a:lvl4pPr>
            <a:lvl5pPr>
              <a:defRPr sz="1200" b="0">
                <a:solidFill>
                  <a:srgbClr val="536779"/>
                </a:solidFill>
              </a:defRPr>
            </a:lvl5pPr>
            <a:lvl6pPr>
              <a:defRPr sz="1200" b="0">
                <a:solidFill>
                  <a:srgbClr val="536779"/>
                </a:solidFill>
              </a:defRPr>
            </a:lvl6pPr>
            <a:lvl7pPr>
              <a:defRPr sz="1200" b="0">
                <a:solidFill>
                  <a:srgbClr val="536779"/>
                </a:solidFill>
              </a:defRPr>
            </a:lvl7pPr>
            <a:lvl8pPr>
              <a:defRPr sz="1200" b="0">
                <a:solidFill>
                  <a:srgbClr val="536779"/>
                </a:solidFill>
              </a:defRPr>
            </a:lvl8pPr>
            <a:lvl9pPr>
              <a:defRPr sz="12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</a:defRPr>
            </a:pPr>
            <a:r>
              <a:rPr sz="1200" b="0">
                <a:solidFill>
                  <a:srgbClr val="536779"/>
                </a:solidFill>
              </a:rPr>
              <a:t>Financial Performance Intelligence · CLP sin IVA · Agosto y septiembre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E172D-AE89-4023-A8E1-28F7649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346"/>
                </a:solidFill>
              </a:defRPr>
            </a:defPPr>
            <a:lvl1pPr>
              <a:defRPr sz="2100" b="0">
                <a:solidFill>
                  <a:srgbClr val="203346"/>
                </a:solidFill>
              </a:defRPr>
            </a:lvl1pPr>
            <a:lvl2pPr>
              <a:defRPr sz="2100" b="0">
                <a:solidFill>
                  <a:srgbClr val="203346"/>
                </a:solidFill>
              </a:defRPr>
            </a:lvl2pPr>
            <a:lvl3pPr>
              <a:defRPr sz="2100" b="0">
                <a:solidFill>
                  <a:srgbClr val="203346"/>
                </a:solidFill>
              </a:defRPr>
            </a:lvl3pPr>
            <a:lvl4pPr>
              <a:defRPr sz="2100" b="0">
                <a:solidFill>
                  <a:srgbClr val="203346"/>
                </a:solidFill>
              </a:defRPr>
            </a:lvl4pPr>
            <a:lvl5pPr>
              <a:defRPr sz="2100" b="0">
                <a:solidFill>
                  <a:srgbClr val="203346"/>
                </a:solidFill>
              </a:defRPr>
            </a:lvl5pPr>
            <a:lvl6pPr>
              <a:defRPr sz="2100" b="0">
                <a:solidFill>
                  <a:srgbClr val="203346"/>
                </a:solidFill>
              </a:defRPr>
            </a:lvl6pPr>
            <a:lvl7pPr>
              <a:defRPr sz="2100" b="0">
                <a:solidFill>
                  <a:srgbClr val="203346"/>
                </a:solidFill>
              </a:defRPr>
            </a:lvl7pPr>
            <a:lvl8pPr>
              <a:defRPr sz="2100" b="0">
                <a:solidFill>
                  <a:srgbClr val="203346"/>
                </a:solidFill>
              </a:defRPr>
            </a:lvl8pPr>
            <a:lvl9pPr>
              <a:defRPr sz="210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346"/>
                </a:solidFill>
              </a:defRPr>
            </a:pPr>
            <a:r>
              <a:rPr sz="2100" b="0">
                <a:solidFill>
                  <a:srgbClr val="203346"/>
                </a:solidFill>
              </a:rPr>
              <a:t>Comercial: piloto de recompra en productos prioritarios. Medir unidades netas y margen, cuidando canibalización.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BCC0F-E60B-4D44-A6A7-9087F3E4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346"/>
                </a:solidFill>
              </a:defRPr>
            </a:defPPr>
            <a:lvl1pPr>
              <a:defRPr sz="2100" b="0">
                <a:solidFill>
                  <a:srgbClr val="203346"/>
                </a:solidFill>
              </a:defRPr>
            </a:lvl1pPr>
            <a:lvl2pPr>
              <a:defRPr sz="2100" b="0">
                <a:solidFill>
                  <a:srgbClr val="203346"/>
                </a:solidFill>
              </a:defRPr>
            </a:lvl2pPr>
            <a:lvl3pPr>
              <a:defRPr sz="2100" b="0">
                <a:solidFill>
                  <a:srgbClr val="203346"/>
                </a:solidFill>
              </a:defRPr>
            </a:lvl3pPr>
            <a:lvl4pPr>
              <a:defRPr sz="2100" b="0">
                <a:solidFill>
                  <a:srgbClr val="203346"/>
                </a:solidFill>
              </a:defRPr>
            </a:lvl4pPr>
            <a:lvl5pPr>
              <a:defRPr sz="2100" b="0">
                <a:solidFill>
                  <a:srgbClr val="203346"/>
                </a:solidFill>
              </a:defRPr>
            </a:lvl5pPr>
            <a:lvl6pPr>
              <a:defRPr sz="2100" b="0">
                <a:solidFill>
                  <a:srgbClr val="203346"/>
                </a:solidFill>
              </a:defRPr>
            </a:lvl6pPr>
            <a:lvl7pPr>
              <a:defRPr sz="2100" b="0">
                <a:solidFill>
                  <a:srgbClr val="203346"/>
                </a:solidFill>
              </a:defRPr>
            </a:lvl7pPr>
            <a:lvl8pPr>
              <a:defRPr sz="2100" b="0">
                <a:solidFill>
                  <a:srgbClr val="203346"/>
                </a:solidFill>
              </a:defRPr>
            </a:lvl8pPr>
            <a:lvl9pPr>
              <a:defRPr sz="210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346"/>
                </a:solidFill>
              </a:defRPr>
            </a:pPr>
            <a:r>
              <a:rPr sz="2100" b="0">
                <a:solidFill>
                  <a:srgbClr val="203346"/>
                </a:solidFill>
              </a:rPr>
              <a:t>Comercial y Finanzas: revisar descuentos mediante piloto. Validar respuesta de demanda antes de extender.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2F417-36EE-4F11-A68B-960545C1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346"/>
                </a:solidFill>
              </a:defRPr>
            </a:defPPr>
            <a:lvl1pPr>
              <a:defRPr sz="2100" b="0">
                <a:solidFill>
                  <a:srgbClr val="203346"/>
                </a:solidFill>
              </a:defRPr>
            </a:lvl1pPr>
            <a:lvl2pPr>
              <a:defRPr sz="2100" b="0">
                <a:solidFill>
                  <a:srgbClr val="203346"/>
                </a:solidFill>
              </a:defRPr>
            </a:lvl2pPr>
            <a:lvl3pPr>
              <a:defRPr sz="2100" b="0">
                <a:solidFill>
                  <a:srgbClr val="203346"/>
                </a:solidFill>
              </a:defRPr>
            </a:lvl3pPr>
            <a:lvl4pPr>
              <a:defRPr sz="2100" b="0">
                <a:solidFill>
                  <a:srgbClr val="203346"/>
                </a:solidFill>
              </a:defRPr>
            </a:lvl4pPr>
            <a:lvl5pPr>
              <a:defRPr sz="2100" b="0">
                <a:solidFill>
                  <a:srgbClr val="203346"/>
                </a:solidFill>
              </a:defRPr>
            </a:lvl5pPr>
            <a:lvl6pPr>
              <a:defRPr sz="2100" b="0">
                <a:solidFill>
                  <a:srgbClr val="203346"/>
                </a:solidFill>
              </a:defRPr>
            </a:lvl6pPr>
            <a:lvl7pPr>
              <a:defRPr sz="2100" b="0">
                <a:solidFill>
                  <a:srgbClr val="203346"/>
                </a:solidFill>
              </a:defRPr>
            </a:lvl7pPr>
            <a:lvl8pPr>
              <a:defRPr sz="2100" b="0">
                <a:solidFill>
                  <a:srgbClr val="203346"/>
                </a:solidFill>
              </a:defRPr>
            </a:lvl8pPr>
            <a:lvl9pPr>
              <a:defRPr sz="2100" b="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346"/>
                </a:solidFill>
              </a:defRPr>
            </a:pPr>
            <a:r>
              <a:rPr sz="2100" b="0">
                <a:solidFill>
                  <a:srgbClr val="203346"/>
                </a:solidFill>
              </a:rPr>
              <a:t>Operaciones y Finanzas: revisar Logística y Marketing y registrar motivos de devolución.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DDAE0-ABF1-40C9-A79F-051CC8C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779"/>
                </a:solidFill>
              </a:defRPr>
            </a:defPPr>
            <a:lvl1pPr>
              <a:defRPr sz="1800" b="0">
                <a:solidFill>
                  <a:srgbClr val="536779"/>
                </a:solidFill>
              </a:defRPr>
            </a:lvl1pPr>
            <a:lvl2pPr>
              <a:defRPr sz="1800" b="0">
                <a:solidFill>
                  <a:srgbClr val="536779"/>
                </a:solidFill>
              </a:defRPr>
            </a:lvl2pPr>
            <a:lvl3pPr>
              <a:defRPr sz="1800" b="0">
                <a:solidFill>
                  <a:srgbClr val="536779"/>
                </a:solidFill>
              </a:defRPr>
            </a:lvl3pPr>
            <a:lvl4pPr>
              <a:defRPr sz="1800" b="0">
                <a:solidFill>
                  <a:srgbClr val="536779"/>
                </a:solidFill>
              </a:defRPr>
            </a:lvl4pPr>
            <a:lvl5pPr>
              <a:defRPr sz="1800" b="0">
                <a:solidFill>
                  <a:srgbClr val="536779"/>
                </a:solidFill>
              </a:defRPr>
            </a:lvl5pPr>
            <a:lvl6pPr>
              <a:defRPr sz="1800" b="0">
                <a:solidFill>
                  <a:srgbClr val="536779"/>
                </a:solidFill>
              </a:defRPr>
            </a:lvl6pPr>
            <a:lvl7pPr>
              <a:defRPr sz="1800" b="0">
                <a:solidFill>
                  <a:srgbClr val="536779"/>
                </a:solidFill>
              </a:defRPr>
            </a:lvl7pPr>
            <a:lvl8pPr>
              <a:defRPr sz="1800" b="0">
                <a:solidFill>
                  <a:srgbClr val="536779"/>
                </a:solidFill>
              </a:defRPr>
            </a:lvl8pPr>
            <a:lvl9pPr>
              <a:defRPr sz="1800" b="0">
                <a:solidFill>
                  <a:srgbClr val="536779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779"/>
                </a:solidFill>
              </a:defRPr>
            </a:pPr>
            <a:r>
              <a:rPr sz="1800" b="0">
                <a:solidFill>
                  <a:srgbClr val="536779"/>
                </a:solidFill>
              </a:rPr>
              <a:t>Cierre: diagnóstico financiero conciliado y escenarios reproducibles. Stock, CRM y motivos de devolución quedan como evidencia pendiente. Implementación empresarial y publicación en GitHub quedan para después.</a:t>
            </a:r>
          </a:p>
        </p:txBody>
      </p:sp>
    </p:spTree>
    <p:extLst>
      <p:ext uri="{BB962C8B-B14F-4D97-AF65-F5344CB8AC3E}">
        <p14:creationId xmlns:p14="http://schemas.microsoft.com/office/powerpoint/2010/main" val="938279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26185-AA96-4F24-B954-A7BEE614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>
                <a:solidFill>
                  <a:srgbClr val="203346"/>
                </a:solidFill>
              </a:defRPr>
            </a:defPPr>
            <a:lvl1pPr>
              <a:defRPr sz="2850">
                <a:solidFill>
                  <a:srgbClr val="203346"/>
                </a:solidFill>
              </a:defRPr>
            </a:lvl1pPr>
            <a:lvl2pPr>
              <a:defRPr sz="2850">
                <a:solidFill>
                  <a:srgbClr val="203346"/>
                </a:solidFill>
              </a:defRPr>
            </a:lvl2pPr>
            <a:lvl3pPr>
              <a:defRPr sz="2850">
                <a:solidFill>
                  <a:srgbClr val="203346"/>
                </a:solidFill>
              </a:defRPr>
            </a:lvl3pPr>
            <a:lvl4pPr>
              <a:defRPr sz="2850">
                <a:solidFill>
                  <a:srgbClr val="203346"/>
                </a:solidFill>
              </a:defRPr>
            </a:lvl4pPr>
            <a:lvl5pPr>
              <a:defRPr sz="2850">
                <a:solidFill>
                  <a:srgbClr val="203346"/>
                </a:solidFill>
              </a:defRPr>
            </a:lvl5pPr>
            <a:lvl6pPr>
              <a:defRPr sz="2850">
                <a:solidFill>
                  <a:srgbClr val="203346"/>
                </a:solidFill>
              </a:defRPr>
            </a:lvl6pPr>
            <a:lvl7pPr>
              <a:defRPr sz="2850">
                <a:solidFill>
                  <a:srgbClr val="203346"/>
                </a:solidFill>
              </a:defRPr>
            </a:lvl7pPr>
            <a:lvl8pPr>
              <a:defRPr sz="2850">
                <a:solidFill>
                  <a:srgbClr val="203346"/>
                </a:solidFill>
              </a:defRPr>
            </a:lvl8pPr>
            <a:lvl9pPr>
              <a:defRPr sz="285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850">
                <a:solidFill>
                  <a:srgbClr val="203346"/>
                </a:solidFill>
              </a:defRPr>
            </a:pPr>
            <a:r>
              <a:rPr sz="2850">
                <a:solidFill>
                  <a:srgbClr val="203346"/>
                </a:solidFill>
              </a:rPr>
              <a:t>Método y herramientas aplicados al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F0062-3FF2-46B2-94EE-23F0A87C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203346"/>
                </a:solidFill>
              </a:defRPr>
            </a:defPPr>
            <a:lvl1pPr>
              <a:defRPr sz="2100">
                <a:solidFill>
                  <a:srgbClr val="203346"/>
                </a:solidFill>
              </a:defRPr>
            </a:lvl1pPr>
            <a:lvl2pPr>
              <a:defRPr sz="2100">
                <a:solidFill>
                  <a:srgbClr val="203346"/>
                </a:solidFill>
              </a:defRPr>
            </a:lvl2pPr>
            <a:lvl3pPr>
              <a:defRPr sz="2100">
                <a:solidFill>
                  <a:srgbClr val="203346"/>
                </a:solidFill>
              </a:defRPr>
            </a:lvl3pPr>
            <a:lvl4pPr>
              <a:defRPr sz="2100">
                <a:solidFill>
                  <a:srgbClr val="203346"/>
                </a:solidFill>
              </a:defRPr>
            </a:lvl4pPr>
            <a:lvl5pPr>
              <a:defRPr sz="2100">
                <a:solidFill>
                  <a:srgbClr val="203346"/>
                </a:solidFill>
              </a:defRPr>
            </a:lvl5pPr>
            <a:lvl6pPr>
              <a:defRPr sz="2100">
                <a:solidFill>
                  <a:srgbClr val="203346"/>
                </a:solidFill>
              </a:defRPr>
            </a:lvl6pPr>
            <a:lvl7pPr>
              <a:defRPr sz="2100">
                <a:solidFill>
                  <a:srgbClr val="203346"/>
                </a:solidFill>
              </a:defRPr>
            </a:lvl7pPr>
            <a:lvl8pPr>
              <a:defRPr sz="2100">
                <a:solidFill>
                  <a:srgbClr val="203346"/>
                </a:solidFill>
              </a:defRPr>
            </a:lvl8pPr>
            <a:lvl9pPr>
              <a:defRPr sz="210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203346"/>
                </a:solidFill>
              </a:defRPr>
            </a:pPr>
            <a:r>
              <a:rPr sz="2100">
                <a:solidFill>
                  <a:srgbClr val="203346"/>
                </a:solidFill>
              </a:rPr>
              <a:t>SQL: relacionar ventas, productos y clientes. Comparar meses y presupuesto con reglas de negocio consistentes.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E5FCD-7210-41F6-BC54-F8EC553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203346"/>
                </a:solidFill>
              </a:defRPr>
            </a:defPPr>
            <a:lvl1pPr>
              <a:defRPr sz="2100">
                <a:solidFill>
                  <a:srgbClr val="203346"/>
                </a:solidFill>
              </a:defRPr>
            </a:lvl1pPr>
            <a:lvl2pPr>
              <a:defRPr sz="2100">
                <a:solidFill>
                  <a:srgbClr val="203346"/>
                </a:solidFill>
              </a:defRPr>
            </a:lvl2pPr>
            <a:lvl3pPr>
              <a:defRPr sz="2100">
                <a:solidFill>
                  <a:srgbClr val="203346"/>
                </a:solidFill>
              </a:defRPr>
            </a:lvl3pPr>
            <a:lvl4pPr>
              <a:defRPr sz="2100">
                <a:solidFill>
                  <a:srgbClr val="203346"/>
                </a:solidFill>
              </a:defRPr>
            </a:lvl4pPr>
            <a:lvl5pPr>
              <a:defRPr sz="2100">
                <a:solidFill>
                  <a:srgbClr val="203346"/>
                </a:solidFill>
              </a:defRPr>
            </a:lvl5pPr>
            <a:lvl6pPr>
              <a:defRPr sz="2100">
                <a:solidFill>
                  <a:srgbClr val="203346"/>
                </a:solidFill>
              </a:defRPr>
            </a:lvl6pPr>
            <a:lvl7pPr>
              <a:defRPr sz="2100">
                <a:solidFill>
                  <a:srgbClr val="203346"/>
                </a:solidFill>
              </a:defRPr>
            </a:lvl7pPr>
            <a:lvl8pPr>
              <a:defRPr sz="2100">
                <a:solidFill>
                  <a:srgbClr val="203346"/>
                </a:solidFill>
              </a:defRPr>
            </a:lvl8pPr>
            <a:lvl9pPr>
              <a:defRPr sz="210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203346"/>
                </a:solidFill>
              </a:defRPr>
            </a:pPr>
            <a:r>
              <a:rPr sz="2100">
                <a:solidFill>
                  <a:srgbClr val="203346"/>
                </a:solidFill>
              </a:rPr>
              <a:t>Python: automatizar controles, conciliar resultados y separar los efectos sobre la utilidad.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C7062-5798-40E2-B629-CA01C64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203346"/>
                </a:solidFill>
              </a:defRPr>
            </a:defPPr>
            <a:lvl1pPr>
              <a:defRPr sz="2100">
                <a:solidFill>
                  <a:srgbClr val="203346"/>
                </a:solidFill>
              </a:defRPr>
            </a:lvl1pPr>
            <a:lvl2pPr>
              <a:defRPr sz="2100">
                <a:solidFill>
                  <a:srgbClr val="203346"/>
                </a:solidFill>
              </a:defRPr>
            </a:lvl2pPr>
            <a:lvl3pPr>
              <a:defRPr sz="2100">
                <a:solidFill>
                  <a:srgbClr val="203346"/>
                </a:solidFill>
              </a:defRPr>
            </a:lvl3pPr>
            <a:lvl4pPr>
              <a:defRPr sz="2100">
                <a:solidFill>
                  <a:srgbClr val="203346"/>
                </a:solidFill>
              </a:defRPr>
            </a:lvl4pPr>
            <a:lvl5pPr>
              <a:defRPr sz="2100">
                <a:solidFill>
                  <a:srgbClr val="203346"/>
                </a:solidFill>
              </a:defRPr>
            </a:lvl5pPr>
            <a:lvl6pPr>
              <a:defRPr sz="2100">
                <a:solidFill>
                  <a:srgbClr val="203346"/>
                </a:solidFill>
              </a:defRPr>
            </a:lvl6pPr>
            <a:lvl7pPr>
              <a:defRPr sz="2100">
                <a:solidFill>
                  <a:srgbClr val="203346"/>
                </a:solidFill>
              </a:defRPr>
            </a:lvl7pPr>
            <a:lvl8pPr>
              <a:defRPr sz="2100">
                <a:solidFill>
                  <a:srgbClr val="203346"/>
                </a:solidFill>
              </a:defRPr>
            </a:lvl8pPr>
            <a:lvl9pPr>
              <a:defRPr sz="210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203346"/>
                </a:solidFill>
              </a:defRPr>
            </a:pPr>
            <a:r>
              <a:rPr sz="2100">
                <a:solidFill>
                  <a:srgbClr val="203346"/>
                </a:solidFill>
              </a:rPr>
              <a:t>Dashboard: explorar categorías, productos, clientes y escenarios con indicadores verificables.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ED990-A23D-4D4F-A235-3D9E2616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203346"/>
                </a:solidFill>
              </a:defRPr>
            </a:defPPr>
            <a:lvl1pPr>
              <a:defRPr sz="2100">
                <a:solidFill>
                  <a:srgbClr val="203346"/>
                </a:solidFill>
              </a:defRPr>
            </a:lvl1pPr>
            <a:lvl2pPr>
              <a:defRPr sz="2100">
                <a:solidFill>
                  <a:srgbClr val="203346"/>
                </a:solidFill>
              </a:defRPr>
            </a:lvl2pPr>
            <a:lvl3pPr>
              <a:defRPr sz="2100">
                <a:solidFill>
                  <a:srgbClr val="203346"/>
                </a:solidFill>
              </a:defRPr>
            </a:lvl3pPr>
            <a:lvl4pPr>
              <a:defRPr sz="2100">
                <a:solidFill>
                  <a:srgbClr val="203346"/>
                </a:solidFill>
              </a:defRPr>
            </a:lvl4pPr>
            <a:lvl5pPr>
              <a:defRPr sz="2100">
                <a:solidFill>
                  <a:srgbClr val="203346"/>
                </a:solidFill>
              </a:defRPr>
            </a:lvl5pPr>
            <a:lvl6pPr>
              <a:defRPr sz="2100">
                <a:solidFill>
                  <a:srgbClr val="203346"/>
                </a:solidFill>
              </a:defRPr>
            </a:lvl6pPr>
            <a:lvl7pPr>
              <a:defRPr sz="2100">
                <a:solidFill>
                  <a:srgbClr val="203346"/>
                </a:solidFill>
              </a:defRPr>
            </a:lvl7pPr>
            <a:lvl8pPr>
              <a:defRPr sz="2100">
                <a:solidFill>
                  <a:srgbClr val="203346"/>
                </a:solidFill>
              </a:defRPr>
            </a:lvl8pPr>
            <a:lvl9pPr>
              <a:defRPr sz="2100">
                <a:solidFill>
                  <a:srgbClr val="203346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203346"/>
                </a:solidFill>
              </a:defRPr>
            </a:pPr>
            <a:r>
              <a:rPr sz="2100">
                <a:solidFill>
                  <a:srgbClr val="203346"/>
                </a:solidFill>
              </a:rPr>
              <a:t>Comunicación ejecutiva: convertir los hallazgos en prioridades, escenarios y evidencia necesaria para decidir.</a:t>
            </a:r>
          </a:p>
        </p:txBody>
      </p:sp>
    </p:spTree>
    <p:extLst>
      <p:ext uri="{BB962C8B-B14F-4D97-AF65-F5344CB8AC3E}">
        <p14:creationId xmlns:p14="http://schemas.microsoft.com/office/powerpoint/2010/main" val="1713856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>2026-10-30T16:54:36.4270000Z</ns2:created>
  <ns2:modified xsi:type="dcterms:W3CDTF">2026-10-30T16:54:36.4270000Z</ns2:modified>
</ns0:coreProperties>
</file>